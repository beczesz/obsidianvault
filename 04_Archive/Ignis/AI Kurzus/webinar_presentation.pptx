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az, amit az AI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nem vesz el tőled?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2880360"/>
            <a:ext cx="2286000" cy="54864"/>
          </a:xfrm>
          <a:prstGeom prst="rect">
            <a:avLst/>
          </a:prstGeom>
          <a:solidFill>
            <a:srgbClr val="FFD43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Praktikus Copilot tippek kis vállalkozásoknak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8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március 24.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Becze Szabolcs  |  Fábián Zsolt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8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Sonrisa  |  Hallenbeck IT Services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héten egy új AI funkció...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640080" cy="640080"/>
          </a:xfrm>
          <a:prstGeom prst="ellipse">
            <a:avLst/>
          </a:prstGeom>
          <a:solidFill>
            <a:srgbClr val="4A8C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216152" y="2194560"/>
            <a:ext cx="36576" cy="137160"/>
          </a:xfrm>
          <a:prstGeom prst="rect">
            <a:avLst/>
          </a:prstGeom>
          <a:solidFill>
            <a:srgbClr val="F0F1F4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645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Szöveget generál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640080" cy="640080"/>
          </a:xfrm>
          <a:prstGeom prst="ellipse">
            <a:avLst/>
          </a:prstGeom>
          <a:solidFill>
            <a:srgbClr val="2266E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16152" y="2971800"/>
            <a:ext cx="36576" cy="137160"/>
          </a:xfrm>
          <a:prstGeom prst="rect">
            <a:avLst/>
          </a:prstGeom>
          <a:solidFill>
            <a:srgbClr val="F0F1F4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2423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Számol, kódol, elemez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640080" cy="640080"/>
          </a:xfrm>
          <a:prstGeom prst="ellipse">
            <a:avLst/>
          </a:prstGeom>
          <a:solidFill>
            <a:srgbClr val="1A358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16152" y="3749040"/>
            <a:ext cx="36576" cy="137160"/>
          </a:xfrm>
          <a:prstGeom prst="rect">
            <a:avLst/>
          </a:prstGeom>
          <a:solidFill>
            <a:srgbClr val="F0F1F4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 feladatokat old meg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886200"/>
            <a:ext cx="640080" cy="640080"/>
          </a:xfrm>
          <a:prstGeom prst="ellipse">
            <a:avLst/>
          </a:prstGeom>
          <a:solidFill>
            <a:srgbClr val="1A358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Ügynökként dolgozik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4297680"/>
            <a:ext cx="7680960" cy="502920"/>
          </a:xfrm>
          <a:prstGeom prst="rect">
            <a:avLst/>
          </a:prstGeom>
          <a:solidFill>
            <a:srgbClr val="EDF2F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297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Egyre több mindent tud a gép, amit eddig csak az ember tudott.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0972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73736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marad nekem?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840480" y="3200400"/>
            <a:ext cx="1463040" cy="54864"/>
          </a:xfrm>
          <a:prstGeom prst="rect">
            <a:avLst/>
          </a:prstGeom>
          <a:solidFill>
            <a:srgbClr val="FFD43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dimenzió, amit az AI sosem vesz 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D43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920240" cy="3200400"/>
          </a:xfrm>
          <a:prstGeom prst="rect">
            <a:avLst/>
          </a:prstGeom>
          <a:solidFill>
            <a:srgbClr val="1E3A8A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645920"/>
            <a:ext cx="731520" cy="7315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783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560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Felelősségvállalás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Csak az ember tud valódi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felelősséget vállalni.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51760" y="1371600"/>
            <a:ext cx="1920240" cy="3200400"/>
          </a:xfrm>
          <a:prstGeom prst="rect">
            <a:avLst/>
          </a:prstGeom>
          <a:solidFill>
            <a:srgbClr val="1D4ED8">
              <a:alpha val="6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246120" y="1645920"/>
            <a:ext cx="731520" cy="73152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7830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1760" y="2560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Megértés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65176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78892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AI számol, az ember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összefüggéseket ért.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54880" y="1371600"/>
            <a:ext cx="1920240" cy="3200400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5349240" y="164592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7830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54880" y="2560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Empátia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75488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89204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AI szimulál.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ember érez.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858000" y="1371600"/>
            <a:ext cx="1920240" cy="3200400"/>
          </a:xfrm>
          <a:prstGeom prst="rect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7452360" y="164592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178308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58000" y="2560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Vágyak, Vízió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85800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995160" y="3383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AI-nak nincs küldetése.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Neked van.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358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Felelősségvállalás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5448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6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Ethos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solidFill>
            <a:srgbClr val="EDF2FE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Csak az ember képes valódi felelősséget vállalni. A felelősség lényege nem pusztán az, hogy valaki képes dönteni, hanem az, hogy a döntés következménye visszahat az önképére.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346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834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AI-nak nincs első személyű énkép, nincs belső morális memória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9184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3291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döntésnek ahhoz, hogy érvényes legyen, tulajdonosra van szüksége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4904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1600" y="3749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felelősség valódi antropológiai határ ember és gép között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358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1463040" cy="365760"/>
          </a:xfrm>
          <a:prstGeom prst="rect">
            <a:avLst/>
          </a:prstGeom>
          <a:solidFill>
            <a:srgbClr val="2266E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Ethos #5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3774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vagy a morális iránytű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6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AI-nak nincs morális iránytűje. Az embernek van.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AI nem gonosz és nem jó. Úgy működik, mint egy hidraulikus kar: a hirtelen nyomásnak ellenáll, de a lassú, kitartó nyomásnak már sokkal kevésbé.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7680960" cy="1645920"/>
          </a:xfrm>
          <a:prstGeom prst="rect">
            <a:avLst/>
          </a:prstGeom>
          <a:solidFill>
            <a:srgbClr val="EDF2F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43200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solidFill>
            <a:srgbClr val="2266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816352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6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Élő demo Copilotban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Állítsatok valami radikálisat. Beszélgessetek vele, lassan engedni fog. Váltsatok, és kezdjétek az ellenkezőjét állítani. Az AI-t idővel bármire rá lehet venni. Az ember az, aki tudja, hol van a határ.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66E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Megértés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5448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6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solidFill>
            <a:srgbClr val="EDF2FE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AI számol, de nem érti annak a jelentőségét, amit kiszámol. Csak az ember képes átlátni az összefüggéseket és a dolgok mélyebb értelmét.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346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834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jól feltett kérdés közelebb visz az igazsághoz, mint bármelyik válasz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9184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3291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 érti a munkája értelmét, sosem lesz lecserélhető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4904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160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igazi megértés akkor derül ki, amikor válaszolni kell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66E3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1463040" cy="365760"/>
          </a:xfrm>
          <a:prstGeom prst="rect">
            <a:avLst/>
          </a:prstGeom>
          <a:solidFill>
            <a:srgbClr val="2266E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 #6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3774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Kérj analógiát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6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értettük meg igazán, amíg egy jó példán át nem látjuk.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emberi agy nem definíciókon keresztül ért meg új dolgokat, hanem már ismert rendszerekhez hasonlítva. Az analógia nem egyszerűsítés: ez az emberi megértés natív nyelve.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7680960" cy="2011680"/>
          </a:xfrm>
          <a:prstGeom prst="rect">
            <a:avLst/>
          </a:prstGeom>
          <a:solidFill>
            <a:srgbClr val="EDF2F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solidFill>
            <a:srgbClr val="2266E3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724912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6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Élő demo Copilotban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3200400"/>
            <a:ext cx="731520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32461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Szeretném megérteni, hogyan működik egy üzenetsor-rendszer (message queue) a szoftverarchitektúrában. Kérlek, magyarázd el egy hétköznapi analógián keresztül, amit bárki megért.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8C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Empátia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5448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6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solidFill>
            <a:srgbClr val="EDF2FE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ember empátiája nem pusztán intellektuális mintázat, hanem mélyen biológiai gyökerű. Ha valakit látok félni, bennem is ugyanazok a hormonok termelődnek.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346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834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AI szimulált empátiája hamis biztonságérzetet ad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9184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3291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ember olvassa, ember írja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4904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160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meeting célja a kapcsolódás, a jegyzeteket majd megírja az AI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8CF7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1463040" cy="365760"/>
          </a:xfrm>
          <a:prstGeom prst="rect">
            <a:avLst/>
          </a:prstGeom>
          <a:solidFill>
            <a:srgbClr val="2266E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Pathos #3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3774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emberi hang az ami áttör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6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ember olvassa, ember írja.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474720" cy="2286000"/>
          </a:xfrm>
          <a:prstGeom prst="rect">
            <a:avLst/>
          </a:prstGeom>
          <a:solidFill>
            <a:srgbClr val="F0F1F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szöveg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internet el van árasztva AI által generált szövegekkel. Az emberek már messziről kiszagolják. Egy hosszú, steril FB posztot senki sem olvas 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737360"/>
            <a:ext cx="3474720" cy="2286000"/>
          </a:xfrm>
          <a:prstGeom prst="rect">
            <a:avLst/>
          </a:prstGeom>
          <a:solidFill>
            <a:srgbClr val="EDF2FE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Áruló jel: az em-dash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21945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AI sűrűn használja a gondolatjelet,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 nem akármilyet: az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26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em-dash-t ( — )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az egyik legarulkodóbb jel.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ránézünk, azonnal tudjuk: ezt nem ember írta.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251960"/>
            <a:ext cx="7680960" cy="502920"/>
          </a:xfrm>
          <a:prstGeom prst="rect">
            <a:avLst/>
          </a:prstGeom>
          <a:solidFill>
            <a:srgbClr val="EDF2F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51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AI használata a személyes kommunikációban sértésként is értelmezhető.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Vágyak, Vízió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5448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6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solidFill>
            <a:srgbClr val="EDF2FE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emberben ott van a vágy, hogy jobbá tegye a világot; a gép vágy nélküli. A vágy feszültség az önazonosság és a lehetőségek horizontja között.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346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834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elhívás ott van, ahol a szeretet, tehetség, hasznosság és moralitás találkozik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9184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3291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 állapotban az ember a legtöbbet adja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4904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160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AI lehetőségeket generál, az ember intuíciója választ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1463040" cy="365760"/>
          </a:xfrm>
          <a:prstGeom prst="rect">
            <a:avLst/>
          </a:prstGeom>
          <a:solidFill>
            <a:srgbClr val="2266E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Thelos #3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377440" y="411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Generálj sokat, az intuíciód választ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6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AI lehetőségeket generál, az ember intuíciója választ.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ember intuíciója páratlan. Nem tudjuk pontosan, mi formálja, de van egy területe ahol ragyog: amikor sok lehetőség közül kell a legjobbat kiválasztani.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7680960" cy="2011680"/>
          </a:xfrm>
          <a:prstGeom prst="rect">
            <a:avLst/>
          </a:prstGeom>
          <a:solidFill>
            <a:srgbClr val="EDF2F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solidFill>
            <a:srgbClr val="2266E3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724912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6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Élő demo Copilotban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14400" y="3200400"/>
            <a:ext cx="731520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32461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20 perces előadást készítek kis vállalkozások tulajdonosainak arról, hogyan használhatják az AI-t a mindennapi munkájukban. Generálj 10 különböző nyitó mondatot. Utána én választom ki, melyik rezonál.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Mitől lesz eredményes egy szervezet?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D43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25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 dimenzióban fejlődő emberek lesznek eredményesek az AI korában.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2011680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031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060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Ethos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71800" y="2011680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1031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97480" y="26060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937760" y="201168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1031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63440" y="26060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903720" y="20116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210312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29400" y="26060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Thelos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31520" y="3200400"/>
            <a:ext cx="5029200" cy="13716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29184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Töltsd le a teljes tananyagot!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1371600" y="3749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8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ingyenes tipp, 4 dimenzió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8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Részletes leírás + konkrét példák</a:t>
            </a:r>
            <a:endParaRPr lang="en-US" sz="1300" dirty="0"/>
          </a:p>
        </p:txBody>
      </p:sp>
      <p:pic>
        <p:nvPicPr>
          <p:cNvPr id="21" name="Image 5" descr="/sessions/serene-relaxed-tesla/pptx-work/qr_co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30175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Eredményes szervezet = 4 pillér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920240" cy="3017520"/>
          </a:xfrm>
          <a:prstGeom prst="rect">
            <a:avLst/>
          </a:prstGeom>
          <a:solidFill>
            <a:srgbClr val="EDF2FE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80160"/>
            <a:ext cx="1920240" cy="54864"/>
          </a:xfrm>
          <a:prstGeom prst="rect">
            <a:avLst/>
          </a:prstGeom>
          <a:solidFill>
            <a:srgbClr val="2266E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6459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77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Eredményes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emberek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3200400"/>
            <a:ext cx="365760" cy="365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651760" y="1280160"/>
            <a:ext cx="1920240" cy="3017520"/>
          </a:xfrm>
          <a:prstGeom prst="rect">
            <a:avLst/>
          </a:prstGeom>
          <a:solidFill>
            <a:srgbClr val="FFF8E0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651760" y="1280160"/>
            <a:ext cx="1920240" cy="54864"/>
          </a:xfrm>
          <a:prstGeom prst="rect">
            <a:avLst/>
          </a:prstGeom>
          <a:solidFill>
            <a:srgbClr val="FFD431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64592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651760" y="2377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Hatékony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rendszerek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265176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erről beszélünk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754880" y="1280160"/>
            <a:ext cx="1920240" cy="3017520"/>
          </a:xfrm>
          <a:prstGeom prst="rect">
            <a:avLst/>
          </a:prstGeom>
          <a:solidFill>
            <a:srgbClr val="F0F1F4"/>
          </a:solidFill>
          <a:ln/>
        </p:spPr>
      </p:sp>
      <p:sp>
        <p:nvSpPr>
          <p:cNvPr id="14" name="Shape 9"/>
          <p:cNvSpPr/>
          <p:nvPr/>
        </p:nvSpPr>
        <p:spPr>
          <a:xfrm>
            <a:off x="4754880" y="1280160"/>
            <a:ext cx="1920240" cy="54864"/>
          </a:xfrm>
          <a:prstGeom prst="rect">
            <a:avLst/>
          </a:prstGeom>
          <a:solidFill>
            <a:srgbClr val="E0E0E0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645920"/>
            <a:ext cx="548640" cy="5486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54880" y="2377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Szervezeti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kultúra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858000" y="1280160"/>
            <a:ext cx="1920240" cy="3017520"/>
          </a:xfrm>
          <a:prstGeom prst="rect">
            <a:avLst/>
          </a:prstGeom>
          <a:solidFill>
            <a:srgbClr val="F0F1F4"/>
          </a:solidFill>
          <a:ln/>
        </p:spPr>
      </p:sp>
      <p:sp>
        <p:nvSpPr>
          <p:cNvPr id="18" name="Shape 12"/>
          <p:cNvSpPr/>
          <p:nvPr/>
        </p:nvSpPr>
        <p:spPr>
          <a:xfrm>
            <a:off x="6858000" y="1280160"/>
            <a:ext cx="1920240" cy="54864"/>
          </a:xfrm>
          <a:prstGeom prst="rect">
            <a:avLst/>
          </a:prstGeom>
          <a:solidFill>
            <a:srgbClr val="E0E0E0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1645920"/>
            <a:ext cx="548640" cy="5486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58000" y="2377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Vízió és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stratégia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rejtett adó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2743200"/>
          </a:xfrm>
          <a:prstGeom prst="rect">
            <a:avLst/>
          </a:prstGeom>
          <a:solidFill>
            <a:srgbClr val="EDF2F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időnkből adminisztrációra megy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valódi értékteremtés helyett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657600" cy="2743200"/>
          </a:xfrm>
          <a:prstGeom prst="rect">
            <a:avLst/>
          </a:prstGeom>
          <a:solidFill>
            <a:srgbClr val="F0F1F4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63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Belső rendszerek hatékonysága = rejtett adó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194560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94960" y="2194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Manuális adatbevitel, másolás-beillesztés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65176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2651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Információ keresése e-mailekben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10896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9496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Belső kérdésekre ismétlődő válaszok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56616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94960" y="3566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Riportok és összefoglalók kézi összeállítása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731520" y="4251960"/>
            <a:ext cx="7680960" cy="502920"/>
          </a:xfrm>
          <a:prstGeom prst="rect">
            <a:avLst/>
          </a:prstGeom>
          <a:solidFill>
            <a:srgbClr val="EDF2FE"/>
          </a:solidFill>
          <a:ln/>
        </p:spPr>
      </p:sp>
      <p:sp>
        <p:nvSpPr>
          <p:cNvPr id="18" name="Text 12"/>
          <p:cNvSpPr/>
          <p:nvPr/>
        </p:nvSpPr>
        <p:spPr>
          <a:xfrm>
            <a:off x="914400" y="4251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lassú belső folyamat pénzt és időt von el a szervezettől.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Hogyan gyorsíthatjuk fel</a:t>
            </a:r>
            <a:endParaRPr lang="en-US" sz="3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belső rendszereket?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840480" y="3291840"/>
            <a:ext cx="1463040" cy="54864"/>
          </a:xfrm>
          <a:prstGeom prst="rect">
            <a:avLst/>
          </a:prstGeom>
          <a:solidFill>
            <a:srgbClr val="FFD431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agentic landscape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200400"/>
          </a:xfrm>
          <a:prstGeom prst="rect">
            <a:avLst/>
          </a:prstGeom>
          <a:solidFill>
            <a:srgbClr val="F0F1F4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54864"/>
          </a:xfrm>
          <a:prstGeom prst="rect">
            <a:avLst/>
          </a:prstGeom>
          <a:solidFill>
            <a:srgbClr val="2266E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286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Lokális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2651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6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108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Személyes hatékonyság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gépen fut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Teljes kontroll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280160"/>
            <a:ext cx="2651760" cy="3200400"/>
          </a:xfrm>
          <a:prstGeom prst="rect">
            <a:avLst/>
          </a:prstGeom>
          <a:solidFill>
            <a:srgbClr val="F0F1F4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280160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544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2286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337560" y="2651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6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Kockázatos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11880" y="3108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enterprise ready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Biztonsági kérdések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Nincs garancia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0" y="1280160"/>
            <a:ext cx="2651760" cy="3200400"/>
          </a:xfrm>
          <a:prstGeom prst="rect">
            <a:avLst/>
          </a:prstGeom>
          <a:solidFill>
            <a:srgbClr val="EDF2FE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280160"/>
            <a:ext cx="2651760" cy="54864"/>
          </a:xfrm>
          <a:prstGeom prst="rect">
            <a:avLst/>
          </a:prstGeom>
          <a:solidFill>
            <a:srgbClr val="1A358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55448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286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217920" y="2651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6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92240" y="3108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Kontrollált, biztonságos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ökoszisztéma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Skálázható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4114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a Copilot Studio?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7680960" cy="777240"/>
          </a:xfrm>
          <a:prstGeom prst="rect">
            <a:avLst/>
          </a:prstGeom>
          <a:solidFill>
            <a:srgbClr val="EDF2F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ökoszisztéma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554480" y="16184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Integrálódik a Teams, SharePoint, OneDrive, Outlook rendszerekbe.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1520" y="2148840"/>
            <a:ext cx="7680960" cy="777240"/>
          </a:xfrm>
          <a:prstGeom prst="rect">
            <a:avLst/>
          </a:prstGeom>
          <a:solidFill>
            <a:srgbClr val="F0F1F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554480" y="25328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Kontrollált hozzáférés, audit log, adatvédelem.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1520" y="3063240"/>
            <a:ext cx="7680960" cy="777240"/>
          </a:xfrm>
          <a:prstGeom prst="rect">
            <a:avLst/>
          </a:prstGeom>
          <a:solidFill>
            <a:srgbClr val="EDF2F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2004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Tudásbázis agent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554480" y="34472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Belső dokumentumokból válaszoló AI, percek alatt felépíthető.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solidFill>
            <a:srgbClr val="F0F1F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1480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Skálázható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554480" y="4361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agent egész csapatokat szolgálhat ki azonnal.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Hogyan gondolkodj az agentic eszközökről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1371600"/>
          </a:xfrm>
          <a:prstGeom prst="rect">
            <a:avLst/>
          </a:prstGeom>
          <a:solidFill>
            <a:srgbClr val="EDF2FE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3657600" cy="54864"/>
          </a:xfrm>
          <a:prstGeom prst="rect">
            <a:avLst/>
          </a:prstGeom>
          <a:solidFill>
            <a:srgbClr val="2266E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Személyes produktivitás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Cowork, Copilot in M365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657600" cy="1371600"/>
          </a:xfrm>
          <a:prstGeom prst="rect">
            <a:avLst/>
          </a:prstGeom>
          <a:solidFill>
            <a:srgbClr val="EDF2FE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280160"/>
            <a:ext cx="3657600" cy="54864"/>
          </a:xfrm>
          <a:prstGeom prst="rect">
            <a:avLst/>
          </a:prstGeom>
          <a:solidFill>
            <a:srgbClr val="1A358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Csapat tudásbázis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Knowledge Agent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3657600" cy="1371600"/>
          </a:xfrm>
          <a:prstGeom prst="rect">
            <a:avLst/>
          </a:prstGeom>
          <a:solidFill>
            <a:srgbClr val="EDF2FE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926080"/>
            <a:ext cx="3657600" cy="54864"/>
          </a:xfrm>
          <a:prstGeom prst="rect">
            <a:avLst/>
          </a:prstGeom>
          <a:solidFill>
            <a:srgbClr val="4A8CF7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Folyamat automatizálás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+ Copilot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3657600" cy="1371600"/>
          </a:xfrm>
          <a:prstGeom prst="rect">
            <a:avLst/>
          </a:prstGeom>
          <a:solidFill>
            <a:srgbClr val="EDF2FE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926080"/>
            <a:ext cx="36576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Egyedi megoldások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Custom Agents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Lássuk a gyakorlatban!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657600" y="3017520"/>
            <a:ext cx="1828800" cy="54864"/>
          </a:xfrm>
          <a:prstGeom prst="rect">
            <a:avLst/>
          </a:prstGeom>
          <a:solidFill>
            <a:srgbClr val="FFD431"/>
          </a:solidFill>
          <a:ln/>
        </p:spPr>
      </p:sp>
      <p:sp>
        <p:nvSpPr>
          <p:cNvPr id="5" name="Text 2"/>
          <p:cNvSpPr/>
          <p:nvPr/>
        </p:nvSpPr>
        <p:spPr>
          <a:xfrm>
            <a:off x="1828800" y="3291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belső tudásbázis agent, amit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perc alatt építettünk.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Internal Knowledge Agent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solidFill>
            <a:srgbClr val="F0F1F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828800"/>
            <a:ext cx="1097280" cy="1097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749040" y="1645920"/>
            <a:ext cx="1463040" cy="1463040"/>
          </a:xfrm>
          <a:prstGeom prst="ellipse">
            <a:avLst/>
          </a:prstGeom>
          <a:solidFill>
            <a:srgbClr val="1A3580">
              <a:alpha val="1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30175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Képernyőmegosztás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szolgáltatási dokumentumok mint tudásbázis  |  SharePoint/OneDrive integráció  |  Természetes nyelvi kérdezés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vigyél haza?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77240"/>
          </a:xfrm>
          <a:prstGeom prst="rect">
            <a:avLst/>
          </a:prstGeom>
          <a:solidFill>
            <a:srgbClr val="EDF2F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234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ember 4 dimenziója nem lecserélhető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554480" y="1600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Ethos, Logos, Pathos, Thelos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1520" y="2103120"/>
            <a:ext cx="7680960" cy="777240"/>
          </a:xfrm>
          <a:prstGeom prst="rect">
            <a:avLst/>
          </a:prstGeom>
          <a:solidFill>
            <a:srgbClr val="F0F1F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402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148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hatékony rendszerek felgyorsítják a szervezetet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554480" y="2514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belső folyamatok automatizálása kulcsfontosságú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EDF2F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546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Studio: az enterprise megoldás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554480" y="3429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Kontrollált, biztonságos, skálázható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solidFill>
            <a:srgbClr val="F0F1F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690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3977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lépés ma, ne holnap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5544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Válassz ki egy tippet és próbáld ki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0972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1645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az AI ellen harcolj.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71600" y="2377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Használd arra, hogy emberibb legyél.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3840480" y="3291840"/>
            <a:ext cx="1463040" cy="54864"/>
          </a:xfrm>
          <a:prstGeom prst="rect">
            <a:avLst/>
          </a:prstGeom>
          <a:solidFill>
            <a:srgbClr val="FFD431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Köszönöm!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1828800" cy="54864"/>
          </a:xfrm>
          <a:prstGeom prst="rect">
            <a:avLst/>
          </a:prstGeom>
          <a:solidFill>
            <a:srgbClr val="FFD43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Becze Szabolcs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8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becze.szabolcs@sonrisa.hu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8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Sonrisa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Fábián Zsolt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8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fabian.zsolt@hlb.hu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8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Hallenbeck IT Services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097280"/>
            <a:ext cx="2926080" cy="34747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pic>
        <p:nvPicPr>
          <p:cNvPr id="9" name="Image 0" descr="/sessions/serene-relaxed-tesla/pptx-work/qr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2194560" cy="21945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AI Tipp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0" y="3931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8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Töltsd le a teljes tananyagot!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8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Group  |  Hallenbeck IT  |  Sonrisa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 az, amit az AI soha nem vesz el tőled?</dc:title>
  <dc:subject>PptxGenJS Presentation</dc:subject>
  <dc:creator>Becze Szabolcs</dc:creator>
  <cp:lastModifiedBy>Becze Szabolcs</cp:lastModifiedBy>
  <cp:revision>1</cp:revision>
  <dcterms:created xsi:type="dcterms:W3CDTF">2026-03-24T07:32:22Z</dcterms:created>
  <dcterms:modified xsi:type="dcterms:W3CDTF">2026-03-24T07:32:22Z</dcterms:modified>
</cp:coreProperties>
</file>