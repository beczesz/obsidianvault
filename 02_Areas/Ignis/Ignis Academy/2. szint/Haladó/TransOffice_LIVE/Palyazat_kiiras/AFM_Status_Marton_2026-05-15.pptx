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0058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30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71000</c:v>
                </c:pt>
                <c:pt idx="1">
                  <c:v>89700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F30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Helyzet — hol állunk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Completion Board státusz · T-7 nap a beadásig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 NAP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2026-08-31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 beadási határidő · ora 16:00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22860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73152" cy="1920240"/>
          </a:xfrm>
          <a:prstGeom prst="rect">
            <a:avLst/>
          </a:prstGeom>
          <a:solidFill>
            <a:srgbClr val="E04F4F"/>
          </a:solidFill>
          <a:ln w="12700">
            <a:solidFill>
              <a:srgbClr val="E04F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BEADÁS ELŐTT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983480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 vár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78040" y="1371600"/>
            <a:ext cx="22860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1371600"/>
            <a:ext cx="73152" cy="19202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ELBÍRÁLÁS ALATT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18745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7406640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 parkolva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1371600"/>
            <a:ext cx="22860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0" y="1371600"/>
            <a:ext cx="73152" cy="1920240"/>
          </a:xfrm>
          <a:prstGeom prst="rect">
            <a:avLst/>
          </a:prstGeom>
          <a:solidFill>
            <a:srgbClr val="00587A"/>
          </a:solidFill>
          <a:ln w="12700">
            <a:solidFill>
              <a:srgbClr val="0058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980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MEGVALÓSÍTÁS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29800" y="187452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9829800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feladat előre tervezve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110642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D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KULCSÜZENET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069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Indulhatunk. Pénzügy zöld, telephely zöld — most a papírmunkán múlik.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77240" y="4800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— minden ellenőrizhető kritériumon átment a TransOffice (lásd 2. dia)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Pénzügyi készség — EBITDA 2024→2025 +26%, D/E 0,66, saját tőke 518 ezer RON (lásd 3. dia)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Telephely — Béla bácsi nemcsak hosszabbít, hanem vételi opciót is felajánlott (lásd 4. dia)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Hátralévő hiányosság: ANAF/DITL igazolások, ONRC kivonat, de minimis nyilatkozat — beszerezhető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TransOffice Trade SRL · AFM Mobilitate Verde IMM 2026 · 2026-05-15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 — pályázhatunk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 Ghidul §5.1.1 — minden ellenőrizhető kritérium teljesül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257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73152" cy="713232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444752"/>
            <a:ext cx="384048" cy="384048"/>
          </a:xfrm>
          <a:prstGeom prst="ellipse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1872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 — árbevétel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72" y="1664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§5.1.1/3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60520" y="13533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Elvárás: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60520" y="1572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1.000.000 EUR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6052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405.000 EUR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5257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103120"/>
            <a:ext cx="73152" cy="713232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2267712"/>
            <a:ext cx="384048" cy="384048"/>
          </a:xfrm>
          <a:prstGeom prst="ellipse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61872" y="21762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 — alkalmazotti létszám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2487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§5.1.1/3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60520" y="2176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Elvárás: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0520" y="2395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 FTE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052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5257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2926080"/>
            <a:ext cx="73152" cy="713232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090672"/>
            <a:ext cx="384048" cy="384048"/>
          </a:xfrm>
          <a:prstGeom prst="ellipse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61872" y="2999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Vechime (cég-kor)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61872" y="3310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§5.1.1/4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60520" y="29992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Elvárás: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60520" y="3218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év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3429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év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749040"/>
            <a:ext cx="5257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3749040"/>
            <a:ext cx="73152" cy="713232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3913632"/>
            <a:ext cx="384048" cy="384048"/>
          </a:xfrm>
          <a:prstGeom prst="ellipse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61872" y="3822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pozitív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61872" y="4133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§5.1.1/8a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38221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Elvárás: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6052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év pozitív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60520" y="4251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Mindkét év pozitív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1280160"/>
            <a:ext cx="5257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55080" y="1280160"/>
            <a:ext cx="73152" cy="713232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56248" y="1444752"/>
            <a:ext cx="384048" cy="384048"/>
          </a:xfrm>
          <a:prstGeom prst="ellipse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56248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068312" y="1353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 mutató (2025)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68312" y="1664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§5.1.1/8b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966960" y="13533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Elvárás: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966960" y="1572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2,5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96696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0,66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55080" y="2103120"/>
            <a:ext cx="5257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55080" y="2103120"/>
            <a:ext cx="73152" cy="713232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56248" y="2267712"/>
            <a:ext cx="384048" cy="384048"/>
          </a:xfrm>
          <a:prstGeom prst="ellipse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56248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7068312" y="21762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tőke pozitív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068312" y="2487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§5.1.1/8c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966960" y="2176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Elvárás: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966960" y="2395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96696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ezer RON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355080" y="2926080"/>
            <a:ext cx="5257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355080" y="2926080"/>
            <a:ext cx="73152" cy="713232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56248" y="3090672"/>
            <a:ext cx="384048" cy="384048"/>
          </a:xfrm>
          <a:prstGeom prst="ellipse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5624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7068312" y="29992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Felhalmozott veszteség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068312" y="3310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§5.1.1/8d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966960" y="29992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Elvárás: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966960" y="3218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50% jegyz. tőke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966960" y="3429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(reportat +302k)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355080" y="3749040"/>
            <a:ext cx="5257800" cy="1319479"/>
          </a:xfrm>
          <a:prstGeom prst="rect">
            <a:avLst/>
          </a:prstGeom>
          <a:solidFill>
            <a:srgbClr val="FFF6E5"/>
          </a:solidFill>
          <a:ln w="6350">
            <a:solidFill>
              <a:srgbClr val="F2A6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55080" y="3749040"/>
            <a:ext cx="73152" cy="1319479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65392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MÉG BESZERZENDŐ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565392" y="4133088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◦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ANAF + DITL adóigazolások (max 30 napos)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◦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ONRC certificat constatator (CAEN-kód + admin)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◦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 11 — De minimis nyilatkozat (3 év)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TransOffice Trade SRL · AFM Mobilitate Verde IMM 2026 · 2026-05-15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Pénzügyi készség — stabil, növekvő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pozitív, +26% YoY · forrás: Mihaela (bilanț 2024-2025)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4937760" cy="50292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2025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89 700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886200"/>
            <a:ext cx="4572000" cy="18288"/>
          </a:xfrm>
          <a:prstGeom prst="rect">
            <a:avLst/>
          </a:prstGeom>
          <a:solidFill>
            <a:srgbClr val="00587A"/>
          </a:solidFill>
          <a:ln w="12700">
            <a:solidFill>
              <a:srgbClr val="005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B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+26%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YoY (2024 → 2025)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marzsa 2025-ben: 4,6%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852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Forrás: Rezultat din exploatare 48 500 + Amortizare 41 200 (Formular 20, 2025)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1280160"/>
            <a:ext cx="58521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trend (RON)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989320" y="1828800"/>
          <a:ext cx="56692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760720" y="4709160"/>
            <a:ext cx="1859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4709160"/>
            <a:ext cx="1859280" cy="54864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4892040"/>
            <a:ext cx="149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 mutató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43600" y="5166360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0,66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943600" y="5715000"/>
            <a:ext cx="149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küszöb: ≤ 2,5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757160" y="4709160"/>
            <a:ext cx="1859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757160" y="4709160"/>
            <a:ext cx="1859280" cy="54864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40040" y="4892040"/>
            <a:ext cx="149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tőke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940040" y="5166360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e RON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940040" y="5715000"/>
            <a:ext cx="149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pozitív, +8% YoY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753600" y="4709160"/>
            <a:ext cx="1859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753600" y="4709160"/>
            <a:ext cx="1859280" cy="54864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936480" y="4892040"/>
            <a:ext cx="149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Árbevétel 2025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936480" y="5166360"/>
            <a:ext cx="149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405 e EUR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9936480" y="5715000"/>
            <a:ext cx="149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küszöb: &lt; 1 M EUR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TransOffice Trade SRL · AFM Mobilitate Verde IMM 2026 · 2026-05-15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Telephely — Béla bácsi zöld lámpa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Bérleti hosszabbítás megvan · sőt vételi opció napirenden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2011680"/>
          </a:xfrm>
          <a:prstGeom prst="rect">
            <a:avLst/>
          </a:prstGeom>
          <a:solidFill>
            <a:srgbClr val="2D8F52"/>
          </a:solidFill>
          <a:ln w="12700">
            <a:solidFill>
              <a:srgbClr val="2D8F52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F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ZÖLD LÁMPA — SŐT TÖBB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Béla bácsi hosszabbít — és felajánlotta, hogy meg is vehetjük a telephelyet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5661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520440"/>
            <a:ext cx="3566160" cy="365760"/>
          </a:xfrm>
          <a:prstGeom prst="rect">
            <a:avLst/>
          </a:prstGeom>
          <a:solidFill>
            <a:srgbClr val="00587A"/>
          </a:solidFill>
          <a:ln w="12700">
            <a:solidFill>
              <a:srgbClr val="005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570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BÉRLETI HOSSZABBÍTÁS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2033-ig (vagy tovább)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599432"/>
            <a:ext cx="3200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091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 követelmény: ≥ 5 év → 2031-08-31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Béla bácsi 2033-2035-re hajlandó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adițional ügyvédnél, hétfőn aláírás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520440"/>
            <a:ext cx="35661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3520440"/>
            <a:ext cx="3566160" cy="365760"/>
          </a:xfrm>
          <a:prstGeom prst="rect">
            <a:avLst/>
          </a:prstGeom>
          <a:solidFill>
            <a:srgbClr val="4FBE79"/>
          </a:solidFill>
          <a:ln w="12700">
            <a:solidFill>
              <a:srgbClr val="4FB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5570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 SCRIS — TÖLTŐPONT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Írásos hozzájárulás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4599432"/>
            <a:ext cx="3200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7091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 §5.1.1/7 kötelező melléklet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Külön levél VAGY act adițional klauzula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Töltő a mi tulajdonunk marad (16. cikk)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3520440"/>
            <a:ext cx="35661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0" y="3520440"/>
            <a:ext cx="3566160" cy="3657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5570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ÚJ: VÉTELI OPCIÓ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Telephely megvásárlása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229600" y="4599432"/>
            <a:ext cx="32004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47091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Béla bácsi nyitott az eladásra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Drept de preempțiune (22. cikk) él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Értékbecslés szükséges — külön ügyirat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TransOffice Trade SRL · AFM Mobilitate Verde IMM 2026 · 2026-05-15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Akcióterv — következő 7 nap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mikor, ki csinálja · cél: péntek 21-én anyag kész, hétfő 24-én beadás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35024"/>
            <a:ext cx="960120" cy="484632"/>
          </a:xfrm>
          <a:prstGeom prst="roundRect">
            <a:avLst>
              <a:gd name="adj" fmla="val 11321"/>
            </a:avLst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3502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05-15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1335024"/>
            <a:ext cx="99669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Mihaela clarification: ANAF-letétbe helyezett 2024-2025 Formular 10/20/30 hivatalos PDF-ek bekérése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281160" y="1389888"/>
            <a:ext cx="2194560" cy="37490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81160" y="138988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Szabolcs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929384"/>
            <a:ext cx="960120" cy="484632"/>
          </a:xfrm>
          <a:prstGeom prst="roundRect">
            <a:avLst>
              <a:gd name="adj" fmla="val 11321"/>
            </a:avLst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2938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1214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05-16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45920" y="1929384"/>
            <a:ext cx="99669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83080" y="1965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adițional + acord scris megfogalmazása ügyvéddel (Béla felé)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81160" y="1984248"/>
            <a:ext cx="2194560" cy="37490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98424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Szabolcs + ügyvéd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523744"/>
            <a:ext cx="960120" cy="484632"/>
          </a:xfrm>
          <a:prstGeom prst="roundRect">
            <a:avLst>
              <a:gd name="adj" fmla="val 11321"/>
            </a:avLst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2374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715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05-17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645920" y="2523744"/>
            <a:ext cx="99669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783080" y="2560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Kovács Márton: ONRC certificat constatator letöltése online (recom.onrc.ro)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81160" y="2578608"/>
            <a:ext cx="2194560" cy="37490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257860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Márton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118104"/>
            <a:ext cx="960120" cy="484632"/>
          </a:xfrm>
          <a:prstGeom prst="roundRect">
            <a:avLst>
              <a:gd name="adj" fmla="val 11321"/>
            </a:avLst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11810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31012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05-18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645920" y="3118104"/>
            <a:ext cx="99669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78308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Béla bácsi aláírja az act adițional-t · ANAF Harghita bejegyzés indítása · ATR-kérelem DEER portálon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81160" y="3172968"/>
            <a:ext cx="2194560" cy="37490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317296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Márton + Szabolcs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712464"/>
            <a:ext cx="960120" cy="484632"/>
          </a:xfrm>
          <a:prstGeom prst="roundRect">
            <a:avLst>
              <a:gd name="adj" fmla="val 11321"/>
            </a:avLst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71246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39044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05-19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645920" y="3712464"/>
            <a:ext cx="99669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78308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Járműflotta-leltár véglegezése Attilával (Anexa 13 §21.2) · ANAF + DITL certificat fiscal igényelve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281160" y="3767328"/>
            <a:ext cx="2194560" cy="37490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81160" y="376732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Szabolcs + Attila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306824"/>
            <a:ext cx="960120" cy="484632"/>
          </a:xfrm>
          <a:prstGeom prst="roundRect">
            <a:avLst>
              <a:gd name="adj" fmla="val 11321"/>
            </a:avLst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30682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44988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05-20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645920" y="4306824"/>
            <a:ext cx="99669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783080" y="4343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 6 (Studiul de oportunitate) + Anexa 7 (Macheta financiară) megírása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281160" y="4361688"/>
            <a:ext cx="2194560" cy="37490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81160" y="436168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Szabolcs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4901184"/>
            <a:ext cx="960120" cy="484632"/>
          </a:xfrm>
          <a:prstGeom prst="roundRect">
            <a:avLst>
              <a:gd name="adj" fmla="val 11321"/>
            </a:avLst>
          </a:prstGeom>
          <a:solidFill>
            <a:srgbClr val="0F3057"/>
          </a:solidFill>
          <a:ln w="12700">
            <a:solidFill>
              <a:srgbClr val="0F30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90118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50932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05-21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1645920" y="4901184"/>
            <a:ext cx="99669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783080" y="4937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 13 + Anexa 12 (DNSH) + Anexa 11 (De minimis) finalizálása · belső review Mártonnal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81160" y="4956048"/>
            <a:ext cx="2194560" cy="37490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81160" y="495604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Szabolcs + Márton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solidFill>
            <a:srgbClr val="2D8F52"/>
          </a:solidFill>
          <a:ln w="12700">
            <a:solidFill>
              <a:srgbClr val="2D8F5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HÉTFŐ 05-24:  MySMIS2021+ feltöltés, digitális aláírás, BEADÁS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TransOffice Trade SRL · AFM Mobilitate Verde IMM 2026 · 2026-05-15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AFM Mobilitate Verde 2026 — Helyzetjelentés</dc:title>
  <dc:subject>PptxGenJS Presentation</dc:subject>
  <dc:creator>Szabolcs (OM)</dc:creator>
  <cp:lastModifiedBy>Szabolcs (OM)</cp:lastModifiedBy>
  <cp:revision>1</cp:revision>
  <dcterms:created xsi:type="dcterms:W3CDTF">2026-05-15T09:24:39Z</dcterms:created>
  <dcterms:modified xsi:type="dcterms:W3CDTF">2026-05-15T09:24:39Z</dcterms:modified>
</cp:coreProperties>
</file>