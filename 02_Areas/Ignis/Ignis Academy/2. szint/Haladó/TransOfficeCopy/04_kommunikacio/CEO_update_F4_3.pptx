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TRANSOFFICE TRADE SRL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AFM Mobilitate Verde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7BC62"/>
                </a:solidFill>
                <a:latin typeface="Calibri"/>
              </a:rPr>
              <a:t>Hol tartunk a pályázat-beadás előtt 2 nappal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Készítette: Operations Manager · 2025-02-26 · Belső update Mártonnak</a:t>
            </a:r>
          </a:p>
        </p:txBody>
      </p:sp>
      <p:sp>
        <p:nvSpPr>
          <p:cNvPr id="7" name="Oval 6"/>
          <p:cNvSpPr/>
          <p:nvPr/>
        </p:nvSpPr>
        <p:spPr>
          <a:xfrm>
            <a:off x="10058400" y="4937760"/>
            <a:ext cx="1645920" cy="16459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6000" b="1">
                <a:solidFill>
                  <a:srgbClr val="222B22"/>
                </a:solidFill>
              </a:rPr>
              <a:t>5×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7607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7BC62"/>
                </a:solidFill>
                <a:latin typeface="Calibri"/>
              </a:rPr>
              <a:t>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97BC62"/>
                </a:solidFill>
                <a:latin typeface="Georgia"/>
              </a:rPr>
              <a:t>67/100 pont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A736A"/>
                </a:solidFill>
                <a:latin typeface="Calibri"/>
              </a:rPr>
              <a:t>becsült pontszám · min. 60 kell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1. Helyzet a Data Completion Board-on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736A"/>
                </a:solidFill>
                <a:latin typeface="Calibri"/>
              </a:rPr>
              <a:t>23 melléklet × 3 nap × 5 felelős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291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2C5F2D"/>
                </a:solidFill>
                <a:latin typeface="Georgia"/>
              </a:rPr>
              <a:t>8/23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00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B22"/>
                </a:solidFill>
                <a:latin typeface="Calibri"/>
              </a:rPr>
              <a:t>ZÖLD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Kész vagy bemásolható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291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2C5F2D"/>
                </a:solidFill>
                <a:latin typeface="Georgia"/>
              </a:rPr>
              <a:t>11/23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00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B22"/>
                </a:solidFill>
                <a:latin typeface="Calibri"/>
              </a:rPr>
              <a:t>SÁRGA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611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Folyamatban — F5-ben generáljuk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28800"/>
            <a:ext cx="32918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9659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2C5F2D"/>
                </a:solidFill>
                <a:latin typeface="Georgia"/>
              </a:rPr>
              <a:t>4/23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00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B22"/>
                </a:solidFill>
                <a:latin typeface="Calibri"/>
              </a:rPr>
              <a:t>PIROS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611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Külső féltől várjuk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22"/>
                </a:solidFill>
                <a:latin typeface="Calibri"/>
              </a:rPr>
              <a:t>A kritikus út egészségesen halad. A 4 piros tétel közül 3 a könyvelőtől / telephely-tulajdonostól érkezik 24-48 órán belül.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A736A"/>
                </a:solidFill>
                <a:latin typeface="Calibri"/>
              </a:rPr>
              <a:t>Egyetlen valódi külső függés: Mihaela külsős könyvelő válaszideje (várt: szerda este).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A736A"/>
                </a:solidFill>
                <a:latin typeface="Calibri"/>
              </a:rPr>
              <a:t>Forrás: TransOfficeCopy/03_palyazati_elemzes/data_completion_board.md (v1.1)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2. Eligibility: pályázhatunk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736A"/>
                </a:solidFill>
                <a:latin typeface="Calibri"/>
              </a:rPr>
              <a:t>12 fő kritérium közül 12 zöldre váltott a Béla bácsi-email és Mihaela-Excel után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CR-01 Bejegyzett SRL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361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2003 óta, J19/421/2003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929384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11095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CR-02 IMM (&lt; 20 FTE, &lt; 1M EUR)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911095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12 fő · 2024: 405 k EUR ✓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304288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86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CR-03 Min. 3 év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86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22 év ✓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679191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60903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CR-04 CAEN 4649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60903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Eligibilis (Anexa 3) ✓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054096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358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CR-05 Pénzügyi stabilitás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0358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EBITDA 2023: 73,8 k · 2024: 92,9 k · D/E 0,66 ✓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4107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CR-06 De minimis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41071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0 EUR / 3 év ✓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803904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8561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CR-07 Cofinanțare 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7856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~220 k RON saját erő — fedezett ✓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178807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160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CR-08 ICE flotta meglévő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160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2+ saját furgon (M-11 lista készül) ✓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553712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53542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CR-09 Telephely 5+ év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53542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Béla bácsi: prelungire 2035-ig ✓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4928616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91032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CR-10 NEM faliment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9103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Nulla adósság, pozitív CF ✓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" y="5303520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2852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CR-11 Eligibilis tev.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2852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B2B office, mentes ✓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" y="5678424"/>
            <a:ext cx="292608" cy="292608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6601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2B22"/>
                </a:solidFill>
                <a:latin typeface="Calibri"/>
              </a:rPr>
              <a:t>CR-12 NEM offshore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66013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A736A"/>
                </a:solidFill>
                <a:latin typeface="Calibri"/>
              </a:rPr>
              <a:t>Romániai SRL 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6035040"/>
            <a:ext cx="10972800" cy="640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172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Becsült pontszám 65–73 / 100 — bőven a 60 pontos küszöb felett. Hargita megyei deficit-bonusz: +5 pont automatikus.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3. Pénzügy + telephely: zöldre váltottak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A736A"/>
                </a:solidFill>
                <a:latin typeface="Calibri"/>
              </a:rPr>
              <a:t>A két ⚠️ figyelmeztetés ⇒ kockázat-mentes a beadás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B22"/>
                </a:solidFill>
                <a:latin typeface="Georgia"/>
              </a:rPr>
              <a:t>Pénzügy (Mihaela bilanț 2023-24)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B22"/>
                </a:solidFill>
                <a:latin typeface="Calibri"/>
              </a:rPr>
              <a:t>Cifra de afaceri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94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1,89 M → 2,02 M RON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2C5F2D"/>
                </a:solidFill>
                <a:latin typeface="Calibri"/>
              </a:rPr>
              <a:t>+6,6%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B22"/>
                </a:solidFill>
                <a:latin typeface="Calibri"/>
              </a:rPr>
              <a:t>EBITDA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97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73,8 k → 92,9 k 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97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2C5F2D"/>
                </a:solidFill>
                <a:latin typeface="Calibri"/>
              </a:rPr>
              <a:t>+25,9%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B22"/>
                </a:solidFill>
                <a:latin typeface="Calibri"/>
              </a:rPr>
              <a:t>EBITDA marzs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00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3,9% → 4,6%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2C5F2D"/>
                </a:solidFill>
                <a:latin typeface="Calibri"/>
              </a:rPr>
              <a:t>+0,7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B22"/>
                </a:solidFill>
                <a:latin typeface="Calibri"/>
              </a:rPr>
              <a:t>D/E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0,68 → 0,66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703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2C5F2D"/>
                </a:solidFill>
                <a:latin typeface="Calibri"/>
              </a:rPr>
              <a:t>✓ &lt; 2,5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2B22"/>
                </a:solidFill>
                <a:latin typeface="Calibri"/>
              </a:rPr>
              <a:t>Salariați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06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11 →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2062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>
                <a:solidFill>
                  <a:srgbClr val="2C5F2D"/>
                </a:solidFill>
                <a:latin typeface="Calibri"/>
              </a:rPr>
              <a:t>+1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Mind a 2 év pozitív EBITDA. CR-05 + CR-06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B22"/>
                </a:solidFill>
                <a:latin typeface="Georgia"/>
              </a:rPr>
              <a:t>Telephely (Béla bácsi)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🟢 NEM eladó: családi örökség 1998 óta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697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🟢 Contract prelungire 2035-ig — felajánlva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🟢 Declarație notarială csü. közjegyzőnél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03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🟢 Acord proprietar pt. punctul AC — vállalva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B22"/>
                </a:solidFill>
                <a:latin typeface="Calibri"/>
              </a:rPr>
              <a:t>💎 BONUSZ: 5 év stabilitás → +1–2 pont Cap 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937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5F2D"/>
                </a:solidFill>
                <a:latin typeface="Calibri"/>
              </a:rPr>
              <a:t>A meeting transcript 41. mondata feloldva.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52160"/>
            <a:ext cx="10972800" cy="73152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2B22"/>
                </a:solidFill>
                <a:latin typeface="Calibri"/>
              </a:rPr>
              <a:t>Mindkét eligibility ⚠️ ZÖLDRE VÁLT. A beadás kockázat-mentes — ha Mihaela csütörtök este válaszol és Béla bácsi csü. közjegyzőnél aláírja, péntek 23:00-ra benyújtható.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97BC62"/>
                </a:solidFill>
                <a:latin typeface="Georgia"/>
              </a:rPr>
              <a:t>4. Akcióterv — a következő 3 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5F5F5"/>
                </a:solidFill>
                <a:latin typeface="Calibri"/>
              </a:rPr>
              <a:t>Péntek 23:59 — beadás. Egyetlen csúszás-tűrés: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576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5F2D"/>
                </a:solidFill>
                <a:latin typeface="Georgia"/>
              </a:rPr>
              <a:t>SZERDA 2/26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31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✅ Béla bácsi-email feldolgozás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✅ Mihaela visszaküldi a bilanț-ot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5467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⚙️ Bíró Attila + Márton: M-11 jármű-leltár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661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⚙️ Enikő: M-01 + M-04 + M-20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7763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🌙 CEO 5-slide update (te most ezt nézed)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1737360"/>
            <a:ext cx="36576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828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5F2D"/>
                </a:solidFill>
                <a:latin typeface="Georgia"/>
              </a:rPr>
              <a:t>CSÜTÖRTÖK 2/27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31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📜 09:00 — Márton aláírások (M-21, M-23)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743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🏛 14:00 — Munteanu BNP közjegyző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15467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    • M-15 Acord proprietar 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35661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    • M-16 Declarație stabilitate 5 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97763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    • Act adițional 2035-ig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43891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🏢 16:00 — Primăria Odorheiu (M-05)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48006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🌙 Plan de afaceri kész (F5.1)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49055" y="1737360"/>
            <a:ext cx="36576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1935" y="1828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C5F2D"/>
                </a:solidFill>
                <a:latin typeface="Georgia"/>
              </a:rPr>
              <a:t>PÉNTEK 2/28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5" y="2331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🏦 09:00 — Banki cofinanțare-igazolás (M-22)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5" y="2743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📦 12:00 — 23-tételes csomag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5" y="315467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🖥 16:00 — MySMIS form kitöltés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5" y="35661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✉️ 23:00 — BEADÁS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1935" y="397763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B22"/>
                </a:solidFill>
                <a:latin typeface="Calibri"/>
              </a:rPr>
              <a:t>(1 óra ráhagyás szerver-akadásra)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