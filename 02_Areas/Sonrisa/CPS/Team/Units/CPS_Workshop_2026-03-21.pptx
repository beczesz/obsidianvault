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4008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20116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5079492"/>
            <a:ext cx="3200400" cy="64008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5" name="Shape 3"/>
          <p:cNvSpPr/>
          <p:nvPr/>
        </p:nvSpPr>
        <p:spPr>
          <a:xfrm>
            <a:off x="9079992" y="3108960"/>
            <a:ext cx="64008" cy="20116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CPS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Hogyan működünk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029200" cy="45720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Workshop  ·  2026-03-21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 a prezentáció felvételre kerül – dokumentáció készül belőle.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teljes engine egy képen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31520"/>
            <a:ext cx="2651760" cy="53035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315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" y="1417320"/>
            <a:ext cx="54864" cy="54864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417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→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2194560"/>
            <a:ext cx="54864" cy="54864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1945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Contacted → Presales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" y="2971800"/>
            <a:ext cx="54864" cy="54864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9718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0088" y="187452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F4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46120" y="73152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731520"/>
            <a:ext cx="2651760" cy="53035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7315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10712" y="1417320"/>
            <a:ext cx="54864" cy="54864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8" name="Text 16"/>
          <p:cNvSpPr/>
          <p:nvPr/>
        </p:nvSpPr>
        <p:spPr>
          <a:xfrm>
            <a:off x="3538728" y="1417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forming + TAM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2194560"/>
            <a:ext cx="54864" cy="54864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21945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Rampup &amp; Setup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2971800"/>
            <a:ext cx="54864" cy="54864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29718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Ongoing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16168" y="187452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F4A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72200" y="73152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731520"/>
            <a:ext cx="2651760" cy="530352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7315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36792" y="1417320"/>
            <a:ext cx="54864" cy="54864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1417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36792" y="2194560"/>
            <a:ext cx="54864" cy="54864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21945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36792" y="2971800"/>
            <a:ext cx="54864" cy="54864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29718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 + Upsell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Engineer  ·  TAM  ·  Unit Members  ·  Jira  ·  Monitoring  ·  Financial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Cycle – Az út a leadtől a signed dealig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72768" cy="3291840"/>
          </a:xfrm>
          <a:prstGeom prst="rect">
            <a:avLst/>
          </a:prstGeom>
          <a:solidFill>
            <a:srgbClr val="C5EDD4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71016"/>
            <a:ext cx="1207008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344168"/>
            <a:ext cx="14264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83664" y="2148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5F4A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48256" y="777240"/>
            <a:ext cx="1572768" cy="3291840"/>
          </a:xfrm>
          <a:prstGeom prst="rect">
            <a:avLst/>
          </a:prstGeom>
          <a:solidFill>
            <a:srgbClr val="8EE4A9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48256" y="7772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Validáció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31136" y="1271016"/>
            <a:ext cx="1207008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1344168"/>
            <a:ext cx="14264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ICP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BANT+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≥8/15 = research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148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5F4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22192" y="777240"/>
            <a:ext cx="1572768" cy="3291840"/>
          </a:xfrm>
          <a:prstGeom prst="rect">
            <a:avLst/>
          </a:prstGeom>
          <a:solidFill>
            <a:srgbClr val="C5EDD4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22192" y="7772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05072" y="1271016"/>
            <a:ext cx="1207008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17" name="Text 15"/>
          <p:cNvSpPr/>
          <p:nvPr/>
        </p:nvSpPr>
        <p:spPr>
          <a:xfrm>
            <a:off x="3895344" y="1344168"/>
            <a:ext cx="14264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outreach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Personalizált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üzenet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31536" y="2148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5F4A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96128" y="777240"/>
            <a:ext cx="1572768" cy="3291840"/>
          </a:xfrm>
          <a:prstGeom prst="rect">
            <a:avLst/>
          </a:prstGeom>
          <a:solidFill>
            <a:srgbClr val="8EE4A9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96128" y="7772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Presales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79008" y="1271016"/>
            <a:ext cx="1207008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344168"/>
            <a:ext cx="14264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Ajánlat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05472" y="2148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5F4A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70064" y="777240"/>
            <a:ext cx="1572768" cy="3291840"/>
          </a:xfrm>
          <a:prstGeom prst="rect">
            <a:avLst/>
          </a:prstGeom>
          <a:solidFill>
            <a:srgbClr val="FE602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70064" y="7772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Won 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52944" y="1271016"/>
            <a:ext cx="1207008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27" name="Text 25"/>
          <p:cNvSpPr/>
          <p:nvPr/>
        </p:nvSpPr>
        <p:spPr>
          <a:xfrm>
            <a:off x="7443216" y="1344168"/>
            <a:ext cx="14264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Szerződés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forming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Eszköz: Jira pipeline stages  ·  LinkedIn  ·  cps-daily-lead-scanner (hétköznaponként 7:30)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Cycle – Ki csinálja és hogyan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0972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Becze Szabolcs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Elsődleges lead forrás. Referenciák, LinkedIn, stratégiai kapcsolatok. A CPS arcának ő adja az első lendületet.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50008"/>
            <a:ext cx="64008" cy="10972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41448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Sonrisa 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Outreach szekvenciák, cold kontakt, lead nurturing. Becze után kapcsolódnak be.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57016"/>
            <a:ext cx="64008" cy="10972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648456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Engineers (CPS)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14216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 call, presales assessment, ajánlat kidolgozás. Molnár Dániel vezeti. Delegál, nem old meg technikai kérdést személyesen.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HOGYAN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43000"/>
            <a:ext cx="64008" cy="109728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234440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Qualification: BANT+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60020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≥8/15 → Research stage.  ≥12/15 → HOT lead.  Greenergy: 11/15 (HOT).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350008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50008"/>
            <a:ext cx="64008" cy="109728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441448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Call Script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280720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Strukturált kérdéssor. Cél: pain feltárás, nem "selling".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557016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557016"/>
            <a:ext cx="64008" cy="109728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648456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Outreach szekvenciák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014216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Cold, Warm, Referral, Post-Assessment. One-pager PDF csatolva.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forming – Won után mi történik?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463040"/>
          </a:xfrm>
          <a:prstGeom prst="rect">
            <a:avLst/>
          </a:prstGeom>
          <a:solidFill>
            <a:srgbClr val="FE602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91440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Won 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08176"/>
            <a:ext cx="160020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481328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Szerződés aláírva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Kliens onboard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04288" y="146304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5F4A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E4A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91440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 kijelölés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408176"/>
            <a:ext cx="160020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481328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 a felelős?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Senior/Expert szint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53128" y="146304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5F4A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E4A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91440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összerakás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408176"/>
            <a:ext cx="160020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17" name="Text 15"/>
          <p:cNvSpPr/>
          <p:nvPr/>
        </p:nvSpPr>
        <p:spPr>
          <a:xfrm>
            <a:off x="4690872" y="1481328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+ Unit Members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1–3 engineer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01968" y="146304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5F4A"/>
                </a:solidFill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1965960" cy="1463040"/>
          </a:xfrm>
          <a:prstGeom prst="rect">
            <a:avLst/>
          </a:prstGeom>
          <a:solidFill>
            <a:srgbClr val="8EE4A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9712" y="91440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Rampup indul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1408176"/>
            <a:ext cx="160020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1481328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+ Docs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 live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SZEREPEK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99923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99232"/>
            <a:ext cx="64008" cy="17830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090672"/>
            <a:ext cx="4005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Account Manager (TAM)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456432"/>
            <a:ext cx="4005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Felelős a szolgáltatás minőségéért hónapról hónapra. Delegál, nem személyesen old meg. Havi riport, heti státusz, kliens kommunikáció.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99923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999232"/>
            <a:ext cx="64008" cy="17830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090672"/>
            <a:ext cx="4005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Member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456432"/>
            <a:ext cx="4005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Operatív kivitelezés junior–senior szinten. Saját szintjén kommunikál klienssel. Riport készítés = fejlődési lehetőség.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Rampup – Mit állítunk fel az első hetekben?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87452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CloudWatch · Datadog · Prometheus · Grafana. Alertek konfigurálva, baseline riport elkészítve, SLA tracking élesítve.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64008" cy="187452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686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 megfelelő alert csatornák (Teams/Slack/PagerDuty). Ki kap értesítést, mikor, milyen súlyossági szinten, és hogyan reagál.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34640"/>
            <a:ext cx="64008" cy="187452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Dokumentáció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Infrastruktúra térkép, runbook, escalation path. Rendszeres frissítés kötelező. Új kolléga el tudjon indulni.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64008" cy="1874520"/>
          </a:xfrm>
          <a:prstGeom prst="rect">
            <a:avLst/>
          </a:prstGeom>
          <a:solidFill>
            <a:srgbClr val="C5EDD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260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Rampup Pack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Minden, ami kell ahhoz, hogy egy új kolléga 24 óra alatt átvehesse a projektet. Ez a mi biztosítékunk a folytonosságra.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Ongoing Operations – A körforgás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1828800"/>
          </a:xfrm>
          <a:prstGeom prst="rect">
            <a:avLst/>
          </a:prstGeom>
          <a:solidFill>
            <a:srgbClr val="8EE4A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886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" y="1353312"/>
            <a:ext cx="374904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4356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 riport (kötelező!), heti státuszhívás (ha igényli), ticketing naprakészen.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114800" cy="1828800"/>
          </a:xfrm>
          <a:prstGeom prst="rect">
            <a:avLst/>
          </a:prstGeom>
          <a:solidFill>
            <a:srgbClr val="F5C64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886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65192" y="1353312"/>
            <a:ext cx="374904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14356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Proaktív jelzés, gyors ceremoniális visszajelzés ("Látjuk, dolgozunk rajta"), management szint.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834640"/>
            <a:ext cx="4114800" cy="1828800"/>
          </a:xfrm>
          <a:prstGeom prst="rect">
            <a:avLst/>
          </a:prstGeom>
          <a:solidFill>
            <a:srgbClr val="FE602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65192" y="29443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65192" y="3410712"/>
            <a:ext cx="374904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65192" y="34930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Nem technikai probléma → 3 szintű folyamat. Csapat → TAM → CPS vezető.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14800" cy="1828800"/>
          </a:xfrm>
          <a:prstGeom prst="rect">
            <a:avLst/>
          </a:prstGeom>
          <a:solidFill>
            <a:srgbClr val="C5EDD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29443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Upsell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" y="3410712"/>
            <a:ext cx="3749040" cy="36576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4930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Igény felismerése, add-on ajánlás (FinOps, 24/7, Architect), csomag upgrade.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53128" y="12801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F4A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26060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F4A"/>
                </a:solidFill>
              </a:rPr>
              <a:t>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3128" y="32918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F4A"/>
                </a:solidFill>
              </a:rPr>
              <a:t>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26060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F4A"/>
                </a:solidFill>
              </a:rPr>
              <a:t>↑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Eszközök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87452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management. Ticket tracking. SLA monitoring. Board per unit (Unvalidated → Won → Closed).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64008" cy="187452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686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Studio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AI-assistált munkafolyamatok. Internal automation. Knowledge base integrációk.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34640"/>
            <a:ext cx="64008" cy="187452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Automate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automatizáció. Lead scanner integráció. Riport generálás automatikusan.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64008" cy="1874520"/>
          </a:xfrm>
          <a:prstGeom prst="rect">
            <a:avLst/>
          </a:prstGeom>
          <a:solidFill>
            <a:srgbClr val="C5EDD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260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Stack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913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CloudWatch · Datadog · Prometheus · Grafana. Alerting, SLA tracking, kliens egészség dashboardok.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Dashboard – Hogyan látjuk a pénzügyi képet?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475488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5895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E4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"Nem egyéneket mérünk – rendszereket mérünk.  Csapatszintű profitabilitás."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64008" cy="306324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81328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Számlázható idő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496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Projekt-specifikus munkák. Részletes leírás kötelező (nem: "meeting"). Csapatszinten értékelhető, nem egyénileg.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389888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89888"/>
            <a:ext cx="64008" cy="306324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481328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Belső működés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847088"/>
            <a:ext cx="2496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Meetingek, koordináció. Nem terhelhető kliensre. Mérni kell – arányosan szétosztódik. Ne "rejtsd el" máshova.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1389888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1389888"/>
            <a:ext cx="64008" cy="306324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481328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Belső befektetés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1847088"/>
            <a:ext cx="2496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R&amp;D, tooling, képzés. Nem azonnal megtérülő, de hosszú távú versenyelőny és fenntarthatóság.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 az alapja annak, hogy tudjuk: melyik kliens, melyik csomag, melyik engineer hol termel értéket.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Szervizeink – Support Csomagok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731520"/>
            <a:ext cx="1993392" cy="3383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73152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Net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" y="12344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€990/m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1078992" cy="32918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019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33172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support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Standby expertise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731520"/>
            <a:ext cx="1993392" cy="3383280"/>
          </a:xfrm>
          <a:prstGeom prst="rect">
            <a:avLst/>
          </a:prstGeom>
          <a:solidFill>
            <a:srgbClr val="8EE4A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73152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87168" y="12344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€2,000/m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944368" y="1901952"/>
            <a:ext cx="1078992" cy="32918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4" name="Text 12"/>
          <p:cNvSpPr/>
          <p:nvPr/>
        </p:nvSpPr>
        <p:spPr>
          <a:xfrm>
            <a:off x="2944368" y="19019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233172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 support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1728" y="731520"/>
            <a:ext cx="1993392" cy="3383280"/>
          </a:xfrm>
          <a:prstGeom prst="rect">
            <a:avLst/>
          </a:prstGeom>
          <a:solidFill>
            <a:srgbClr val="3F5F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73152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81728" y="12344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€4,000/m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138928" y="1901952"/>
            <a:ext cx="1078992" cy="32918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19019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73168" y="233172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 DevOps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Proaktív optim.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Mid-sized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76288" y="731520"/>
            <a:ext cx="1993392" cy="3383280"/>
          </a:xfrm>
          <a:prstGeom prst="rect">
            <a:avLst/>
          </a:prstGeom>
          <a:solidFill>
            <a:srgbClr val="032C1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76288" y="73152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76288" y="12344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€6,000/m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333488" y="1901952"/>
            <a:ext cx="1078992" cy="32918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90195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7728" y="233172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grade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24/7 ready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" y="4297680"/>
            <a:ext cx="8558784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2976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E4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ADD-ONS:  24/7 On-Call +€2K/m  ·  Solution Architect +€1K/m  ·  FinOps +€500/m  ·  DevSecOps +€700/m  ·  Extra hours €70/h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Szervizeink – Projektek és Jövő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PROJEKTEK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09728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Migration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€15K – €100K. AWS/Azure/GCP átállás, architektúra tervezés, zero-downtime migráció.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50008"/>
            <a:ext cx="64008" cy="109728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41448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Jenkins, ArgoCD, GitHub Actions. Blue-green deployment, pipeline security hardening.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57016"/>
            <a:ext cx="64008" cy="109728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648456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Audit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14216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DevSecOps, NIS2 felkészítés, pen-test koordináció, compliance automation.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JÖVŐ – ÚJ LEHETŐSÉGEK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43000"/>
            <a:ext cx="64008" cy="109728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234440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Farm / LLMaaS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60020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inference on-premise vagy privát cloudon. Saját infrastruktúrán futó LLM klienseknek.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350008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50008"/>
            <a:ext cx="64008" cy="109728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441448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FinOps 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280720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10–30% cloud cost megtakarítás. Reserved instance optimalizáció, billing elemzés, dashboardok.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557016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557016"/>
            <a:ext cx="64008" cy="109728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648456"/>
            <a:ext cx="3730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CPS Academy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014216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Belső képzési anyagok értékesítve klienseknek és külsős learnereknek. €200–€1K/session.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– Hogyan jutunk el a kliensekhez?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974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697480" cy="53035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5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sonrisa.hu / CPS aloldal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423160" cy="36576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Szolgáltatások bemutatása, SEO (Miklós: prioritás), case studies publikálása.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749808"/>
            <a:ext cx="26974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749808"/>
            <a:ext cx="2697480" cy="53035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74980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64992" y="1353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5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+ Direct Outreach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1691640"/>
            <a:ext cx="2423160" cy="36576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 és cloud hatékonyan" + "AI in the cloud". Március–április tartalom push. Nórival koordinálva.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5624" y="749808"/>
            <a:ext cx="26974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749808"/>
            <a:ext cx="2697480" cy="530352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8" name="Text 16"/>
          <p:cNvSpPr/>
          <p:nvPr/>
        </p:nvSpPr>
        <p:spPr>
          <a:xfrm>
            <a:off x="6135624" y="74980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Studio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1353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5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Podcast + Konferenciák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1691640"/>
            <a:ext cx="2423160" cy="36576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Bánfi Istvánnal: "Hatékony Cloud" témájú konferencia szereplések. Podcast megjelenések.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Pipeline: Job scraping → DevOps job ads → ezeket a cégeket targetáljuk. Koordináció: Nóri.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Stratégia – Kettős megközelítés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87952" cy="4160520"/>
          </a:xfrm>
          <a:prstGeom prst="rect">
            <a:avLst/>
          </a:prstGeom>
          <a:solidFill>
            <a:srgbClr val="032C1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kliensek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E4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Kevés · Nagy · Stabil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840480" cy="4572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74520"/>
            <a:ext cx="82296" cy="34747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Hosszú távú stabil magas bevétel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82296" cy="34747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404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Komolyabb SLA elvárások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35224"/>
            <a:ext cx="82296" cy="34747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935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Senior/Expert szintű munka dominál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82296" cy="34747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465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Személyes bizalom az alap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95928"/>
            <a:ext cx="82296" cy="34747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995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Kész, bizonyított folyamatokkal dolgozunk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82312" y="749808"/>
            <a:ext cx="4187952" cy="4160520"/>
          </a:xfrm>
          <a:prstGeom prst="rect">
            <a:avLst/>
          </a:prstGeom>
          <a:solidFill>
            <a:srgbClr val="F1F9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65192" y="841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Kis kliensek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65192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6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Sok · Kisebb · Kísérletező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65192" y="1691640"/>
            <a:ext cx="3840480" cy="4572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5192" y="1874520"/>
            <a:ext cx="82296" cy="34747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3" name="Text 21"/>
          <p:cNvSpPr/>
          <p:nvPr/>
        </p:nvSpPr>
        <p:spPr>
          <a:xfrm>
            <a:off x="5129784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Kísérletező terep – eszközök tesztelése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65192" y="2404872"/>
            <a:ext cx="82296" cy="34747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5" name="Text 23"/>
          <p:cNvSpPr/>
          <p:nvPr/>
        </p:nvSpPr>
        <p:spPr>
          <a:xfrm>
            <a:off x="5129784" y="2404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 hibázunk, kicsi a hiba hozadéka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65192" y="2935224"/>
            <a:ext cx="82296" cy="34747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7" name="Text 25"/>
          <p:cNvSpPr/>
          <p:nvPr/>
        </p:nvSpPr>
        <p:spPr>
          <a:xfrm>
            <a:off x="5129784" y="2935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Juniorok bevonhatók, tanulnak éles környezetben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65192" y="3465576"/>
            <a:ext cx="82296" cy="34747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9" name="Text 27"/>
          <p:cNvSpPr/>
          <p:nvPr/>
        </p:nvSpPr>
        <p:spPr>
          <a:xfrm>
            <a:off x="5129784" y="3465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 skilleket fejlesztjük alacsony kockázattal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65192" y="3995928"/>
            <a:ext cx="82296" cy="34747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31" name="Text 29"/>
          <p:cNvSpPr/>
          <p:nvPr/>
        </p:nvSpPr>
        <p:spPr>
          <a:xfrm>
            <a:off x="5129784" y="3995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C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Előkészíti az enterprise világát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79392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F5F4A"/>
                </a:solidFill>
              </a:rPr>
              <a:t>⟺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Összetétel – Miért kell Senior és Junior egyszerre?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178308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garantálja a minőséget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szerepkör, döntéshozás, kliens bizalom. Enterprise projekt nem megy Senior nélkül.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64008" cy="178308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96112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Junior tanul éles környezetben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E1–E3 szint: kis klienseknél alacsony kockázattal fejlődik. Mentorship a Senior/Expert oldalán.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7063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70632"/>
            <a:ext cx="64008" cy="178308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62072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Fenntartható átlagár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2783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 team → alacsonyabb átlag óraköltség → versenyképes csomag árak a piacon.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7063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70632"/>
            <a:ext cx="64008" cy="1783080"/>
          </a:xfrm>
          <a:prstGeom prst="rect">
            <a:avLst/>
          </a:prstGeom>
          <a:solidFill>
            <a:srgbClr val="C5EDD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62072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Skálázható kapacitás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2783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Több kis kliens = több junior foglalkoztatható. Az enterprise kliensek minősége nem szenved.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Jelenlegi csapat: ~13 engineer + 1 E9+ contractor  ·  2 E1 junior csatlakozik (junior program, 2026)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Modell – Szerepek és felelősségi körök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73736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Engineer  ·  Senior/Lead/Architect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Presales, kliens meggyőzés. Delegál – nem kódol személyesen. Empátia, biztonság érzete a kliensnek.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64008" cy="173736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6868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Account Manager (TAM)  ·  Expert/Senior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Egy működő unit számlázható felelőse. Havi riport, heti státusz, delegál uniton belül. Minőség = az ő felelőssége.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97480"/>
            <a:ext cx="64008" cy="1737360"/>
          </a:xfrm>
          <a:prstGeom prst="rect">
            <a:avLst/>
          </a:prstGeom>
          <a:solidFill>
            <a:srgbClr val="C5ED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8892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Member  ·  Junior → Senior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Operatív kivitelezés. Saját szintjén kommunikál klienssel. Riport készítés – fejlődési lehetőség.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697480"/>
            <a:ext cx="64008" cy="173736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788920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Guildhead  ·  Szakmai képviselő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Belső feszültségek gyűjtése, szakmai érdekképviselet. CPS vezető szinkronban dolgozik vele.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Support vs. 24/7 Support – Hogyan szervezzük?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50292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49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SUPPORT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749808"/>
            <a:ext cx="4114800" cy="50292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749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ON-CALL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344168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344168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3441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81912" y="13441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óra válaszidő (core hours)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13441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71032" y="13441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Percek · azonnali riasztás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002536"/>
            <a:ext cx="4114800" cy="621792"/>
          </a:xfrm>
          <a:prstGeom prst="rect">
            <a:avLst/>
          </a:prstGeom>
          <a:solidFill>
            <a:srgbClr val="F0F8EC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2002536"/>
            <a:ext cx="4114800" cy="621792"/>
          </a:xfrm>
          <a:prstGeom prst="rect">
            <a:avLst/>
          </a:prstGeom>
          <a:solidFill>
            <a:srgbClr val="F0F8EC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0025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Elérhetőség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81912" y="200253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hours (H–P)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20025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Elérhetőség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71032" y="200253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24/7/365, rotációs ügyeleti rend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60904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660904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26609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Csapat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81912" y="26609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+ 1–2 Unit Member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26609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Csapat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71032" y="26609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Dedikált on-call engineer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319272"/>
            <a:ext cx="4114800" cy="621792"/>
          </a:xfrm>
          <a:prstGeom prst="rect">
            <a:avLst/>
          </a:prstGeom>
          <a:solidFill>
            <a:srgbClr val="F0F8EC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3319272"/>
            <a:ext cx="4114800" cy="621792"/>
          </a:xfrm>
          <a:prstGeom prst="rect">
            <a:avLst/>
          </a:prstGeom>
          <a:solidFill>
            <a:srgbClr val="F0F8EC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" y="33192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81912" y="33192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 riport + heti státusz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3192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71032" y="33192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riport + RCA (root cause)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977640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3977640"/>
            <a:ext cx="41148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" y="39776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Eszkaláció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81912" y="39776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Normál 3 szintű folyamat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18888" y="39776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Eszkaláció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71032" y="39776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 management loop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24/7 On-Call add-on: +€2,000/m  ·  Rotáció és igazságos elosztás → Vita Q2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tapasztal a kliens belőlünk? – A bizalom 5 szintje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438912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E4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"Nem az adja az értéket, hogy ott vagyunk – hanem hogy ott TUDUNK lenni."  (tűzoltóság-analógia)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566928" cy="62179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98448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86968" y="1298448"/>
            <a:ext cx="793699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1298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 riport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27248" y="1298448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Alaplüktetés. Ha hiányzik → azonnali bizalomvesztés. Számoknak stimmelni kell – a kliens ellenőrzi.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02536"/>
            <a:ext cx="566928" cy="62179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02536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86968" y="2002536"/>
            <a:ext cx="7936992" cy="621792"/>
          </a:xfrm>
          <a:prstGeom prst="rect">
            <a:avLst/>
          </a:prstGeom>
          <a:solidFill>
            <a:srgbClr val="F0F8EC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200253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Heti státuszhívás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27248" y="2002536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 a kliens igényli. Félóra. Késés, felkészületlenség → "magára van hagyva" érzet.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566928" cy="62179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06624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86968" y="2706624"/>
            <a:ext cx="793699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27066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Napi elérhetőség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27248" y="2706624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Mindig van valaki. Szabadságok, betegségek: előre tervezve és kommunikálva a kliens felé.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10712"/>
            <a:ext cx="566928" cy="62179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410712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86968" y="3410712"/>
            <a:ext cx="7936992" cy="621792"/>
          </a:xfrm>
          <a:prstGeom prst="rect">
            <a:avLst/>
          </a:prstGeom>
          <a:solidFill>
            <a:srgbClr val="F0F8EC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" y="34107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Gyors ceremoniális visszajelzés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27248" y="3410712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"Rendben, látjuk." – Ennyit kell. A kliens el tudja engedni. Hiánya bizalomromboló, még ha dolgozunk is.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566928" cy="62179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114800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86968" y="4114800"/>
            <a:ext cx="793699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78408" y="41148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szintű kapcsolat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27248" y="411480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CPS vezető időnként direktben kontaktál. Stabilitás érzete. Nem mikromenedzsment.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2C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Eszkaláció – Nem technikai problémák kezelése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94360" cy="117043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594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804672"/>
            <a:ext cx="79095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804672"/>
            <a:ext cx="64008" cy="1170432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8961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Csapaton belül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1307592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Nyílt kommunikáció, empátia, tisztázó beszélgetések. A legtöbb probléma ezen a szinten megoldható.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993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ha nem oldódik meg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594360" cy="1170432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94560"/>
            <a:ext cx="594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79095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194560"/>
            <a:ext cx="64008" cy="1170432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" y="228600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Account Manager (e-mail)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9848" y="2697480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Tartós vagy ismétlődő probléma esetén. Formális e-mail a kliens tech kontaktjával. Nyomon követhető, hivatkozható.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ha nem oldódik meg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84448"/>
            <a:ext cx="594360" cy="117043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584448"/>
            <a:ext cx="594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14400" y="3584448"/>
            <a:ext cx="79095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584448"/>
            <a:ext cx="64008" cy="1170432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22" name="Text 20"/>
          <p:cNvSpPr/>
          <p:nvPr/>
        </p:nvSpPr>
        <p:spPr>
          <a:xfrm>
            <a:off x="1069848" y="3675888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CPS Vezető + Kliens döntéshozó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69848" y="408736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Stratégiai szintű rendezés. Kapcsolat helyreállítása, elvárások újratárgyalása. Nem operatív szint.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32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64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377440" y="822960"/>
            <a:ext cx="0" cy="3474720"/>
          </a:xfrm>
          <a:prstGeom prst="line">
            <a:avLst/>
          </a:prstGeom>
          <a:noFill/>
          <a:ln w="19050">
            <a:solidFill>
              <a:srgbClr val="3F5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9728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Azonosítsuk a jelenlegi unitjainkat!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Melyik kliens melyik unitba kerül?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 a TAM az egyes klienseknél?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651760" y="4023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Menjük végig a kliens listán – minden klienshez rendeljünk TAM-ot most.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32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64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377440" y="822960"/>
            <a:ext cx="0" cy="3474720"/>
          </a:xfrm>
          <a:prstGeom prst="line">
            <a:avLst/>
          </a:prstGeom>
          <a:noFill/>
          <a:ln w="19050">
            <a:solidFill>
              <a:srgbClr val="3F5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9728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Support vs. 24/7 Support: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hogyan szervezzük meg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két csapat munkáját?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 kire számíthat, mikor?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651760" y="4023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Rotáció, értesítési lánc, tooling, igazságos elosztás.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2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64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8EE4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377440" y="822960"/>
            <a:ext cx="0" cy="3474720"/>
          </a:xfrm>
          <a:prstGeom prst="line">
            <a:avLst/>
          </a:prstGeom>
          <a:noFill/>
          <a:ln w="19050">
            <a:solidFill>
              <a:srgbClr val="3F5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9728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Junior program + soft skill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fejlesztés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Folytatás a délutáni munkamenetben.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651760" y="4023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 az ülésen csak keret – részletes kidolgozás délután.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32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Következő lépések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45720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475488" cy="502920"/>
          </a:xfrm>
          <a:prstGeom prst="rect">
            <a:avLst/>
          </a:prstGeom>
          <a:solidFill>
            <a:srgbClr val="3F5F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bemutatva – teljes lifecycle átbeszélve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475488" cy="50292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9397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09397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Unitok azonosítva, TAM-ok megnevezve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475488" cy="502920"/>
          </a:xfrm>
          <a:prstGeom prst="rect">
            <a:avLst/>
          </a:prstGeom>
          <a:solidFill>
            <a:srgbClr val="8EE4A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2491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vs. 24/7 munkaszervezés tisztázva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475488" cy="502920"/>
          </a:xfrm>
          <a:prstGeom prst="rect">
            <a:avLst/>
          </a:prstGeom>
          <a:solidFill>
            <a:srgbClr val="FE60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5584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3558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Dokumentáció: felvétel alapján elkészül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475488" cy="502920"/>
          </a:xfrm>
          <a:prstGeom prst="rect">
            <a:avLst/>
          </a:prstGeom>
          <a:solidFill>
            <a:srgbClr val="F5C64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86784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C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9867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Junior program + soft skill – folytatás délután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2026-03-21T09:43:21Z</dcterms:created>
  <dcterms:modified xsi:type="dcterms:W3CDTF">2026-03-21T09:43:21Z</dcterms:modified>
</cp:coreProperties>
</file>